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0" r:id="rId3"/>
    <p:sldId id="257" r:id="rId4"/>
    <p:sldId id="271" r:id="rId5"/>
    <p:sldId id="272" r:id="rId6"/>
    <p:sldId id="273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77" r:id="rId18"/>
    <p:sldId id="274" r:id="rId19"/>
    <p:sldId id="275" r:id="rId20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52"/>
    <p:restoredTop sz="94668"/>
  </p:normalViewPr>
  <p:slideViewPr>
    <p:cSldViewPr snapToGrid="0">
      <p:cViewPr>
        <p:scale>
          <a:sx n="160" d="100"/>
          <a:sy n="160" d="100"/>
        </p:scale>
        <p:origin x="336" y="-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3B7EA8-06D9-0D4D-B0CA-0BAE2DBEB596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C2669-9D28-D945-8772-196D2BE0D0B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4932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dirty="0"/>
              <a:t>Hur skulle vi bygga detta om vi är flera programmerare?</a:t>
            </a:r>
          </a:p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C2669-9D28-D945-8772-196D2BE0D0BA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16905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14955-ECA8-3C25-6274-AB2BD6ACF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162017-AC17-DD6B-A57F-211AABA50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A1BAD-8A69-F4AE-EA29-A2F5BB964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2D903-63AE-474B-B486-A20800EC2AB1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C332A-A7FB-D075-132B-8B17D0D98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B757F-61E5-4AAD-8540-1ED6B1C2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CD07-DCAF-374B-8545-CDA61EB74A1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52239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6FE36-0EF8-B277-488E-E1EDE7347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A2227-0AF4-80DF-0CB2-5D98DF1F1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2E266-8351-D7A7-5839-468A17C6C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2D903-63AE-474B-B486-A20800EC2AB1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EFB9F-58E1-59EE-CD89-096E373D0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003E6-0693-FBBE-728B-7245392D6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CD07-DCAF-374B-8545-CDA61EB74A1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92428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CFE2F-3E65-34BC-EE5C-96E777B5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81A7B-9E50-EC9D-2C7B-67869B473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450AC-03E8-1D52-FED9-E49C2BC6B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2D903-63AE-474B-B486-A20800EC2AB1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3E36A-84F1-1807-660A-AABC20A79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54937-7368-FD3E-C87F-F6D2170D8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CD07-DCAF-374B-8545-CDA61EB74A1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378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B607A-30FA-729F-356D-18BBA5328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95C06-6EC2-1A03-5590-A0BC369D9C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0268E-CEE5-3361-0E11-2A4EB1B9E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33CDD-59BE-A6AF-6F23-24F58348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2D903-63AE-474B-B486-A20800EC2AB1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5931F-6F95-D11D-4EE3-9918BB450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BAE02-5EBF-E4F3-DB89-FC8547F97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CD07-DCAF-374B-8545-CDA61EB74A1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59912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1301D-8ECF-9A7B-91AC-F9B6B29DB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A831E7-E2F0-6681-DD72-3941AB4AB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57481C-AA73-67C0-4639-8299109FA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4685B4-2941-7C40-744A-C65526874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0DEE1D-30C2-31D6-A929-2180B5C129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1C998E-CAEC-E5A9-EC6D-4D77A4A3F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2D903-63AE-474B-B486-A20800EC2AB1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69708C-7F4C-EFFE-900B-C23FF0BB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28705C-7D4C-9F1B-AF56-ADEAF118C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CD07-DCAF-374B-8545-CDA61EB74A1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07478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76D46-F58B-C1B0-38EF-E23CB107A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562A3C-DCE3-CE1A-BFE9-CD7DDFB9B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2D903-63AE-474B-B486-A20800EC2AB1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5E85DD-641A-1DA9-2054-472F0FE86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8BB81F-7C67-6EBA-CA8E-720AB16AF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CD07-DCAF-374B-8545-CDA61EB74A1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84697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71A5B-CA6A-7ADB-09CF-8318CFDD4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2D903-63AE-474B-B486-A20800EC2AB1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2A6634-5C79-4D1A-A088-42DF829F2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8D8A9-AD47-B11A-3345-52D5E760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CD07-DCAF-374B-8545-CDA61EB74A1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40750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7B19B-D38A-C336-A046-9E70C4836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65CED-9869-F093-4163-294DED63F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012C7C-98E8-6E2C-957B-4B60B3DEC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DDD13-FD4F-9486-671D-CE111612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2D903-63AE-474B-B486-A20800EC2AB1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65A00-52AC-2D8A-ED78-7D0FC51D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0ECB2C-A47A-CC93-06BA-2ACF7947B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CD07-DCAF-374B-8545-CDA61EB74A1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61855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AE89F-44E6-7151-9A96-C477E1AF4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4A2EC4-B77B-63DC-BB0B-3374E454E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39A43-0AC8-D051-7E23-CA7B84B9C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AD866-4913-E270-C2E1-B9A880F0A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2D903-63AE-474B-B486-A20800EC2AB1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F3EFF-7CB6-3223-E37B-DCACC2B59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9CBE4-6928-BD05-08DB-FC0DEE895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CD07-DCAF-374B-8545-CDA61EB74A1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57301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6E47-D75E-F8F7-7982-E9200ECB4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F2BF37-1E81-F9E0-B16C-3F2EC9FEC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C97DD-A44A-F01E-A110-929937363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2D903-63AE-474B-B486-A20800EC2AB1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E0F07-AAFE-375C-672A-0BBAD8B99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C44F0-37BD-565E-4D23-879DF1BD7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CD07-DCAF-374B-8545-CDA61EB74A1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83169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DF6297-C3F4-0B92-8B60-C980471FE5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2854F8-F30B-3D68-9DC7-1F7DDA483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BCE91-DDC1-94AF-101A-899E3D4C4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2D903-63AE-474B-B486-A20800EC2AB1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29632-AB01-1AC9-9A7E-4091DB41C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598BD-EB77-DC06-6320-79C4E1EF1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CD07-DCAF-374B-8545-CDA61EB74A1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23841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B31AA6-B0B9-A2C9-2551-1B684D222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26F35-AA12-B6DD-0E1D-6ABA2E924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04667-2262-3C6C-078F-3497C6E9E2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2D903-63AE-474B-B486-A20800EC2AB1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88884-7681-4BAC-09CE-041B572232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88FD1-78CD-9612-62B0-7E2B6D108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F1CD07-DCAF-374B-8545-CDA61EB74A1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29338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00248-2BE6-4D4A-3A69-B38676C980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Föreläsning 2</a:t>
            </a:r>
            <a:br>
              <a:rPr lang="sv-SE" dirty="0"/>
            </a:br>
            <a:r>
              <a:rPr lang="sv-SE" dirty="0"/>
              <a:t>DD1385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0ED8D-FC6E-9723-F40F-D4589871C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2262" y="3602038"/>
            <a:ext cx="3148149" cy="165576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sv-SE" dirty="0"/>
              <a:t>Interface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sv-SE" dirty="0"/>
              <a:t>UML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sv-SE" dirty="0"/>
              <a:t>Lyssnarinterface</a:t>
            </a:r>
          </a:p>
        </p:txBody>
      </p:sp>
    </p:spTree>
    <p:extLst>
      <p:ext uri="{BB962C8B-B14F-4D97-AF65-F5344CB8AC3E}">
        <p14:creationId xmlns:p14="http://schemas.microsoft.com/office/powerpoint/2010/main" val="1147903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34CF3-EC34-7511-C7CC-F84C15FF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Förkunskap för denna föreläsning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67C48-7397-4BC8-C025-8A199B345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class</a:t>
            </a:r>
            <a:endParaRPr lang="sv-SE" dirty="0"/>
          </a:p>
          <a:p>
            <a:r>
              <a:rPr lang="sv-SE" dirty="0"/>
              <a:t>Objekt</a:t>
            </a:r>
          </a:p>
          <a:p>
            <a:r>
              <a:rPr lang="sv-SE" dirty="0"/>
              <a:t>Instansmetod, returtyp, parametrar och </a:t>
            </a:r>
            <a:r>
              <a:rPr lang="sv-SE" dirty="0" err="1"/>
              <a:t>void</a:t>
            </a:r>
            <a:endParaRPr lang="sv-SE" dirty="0"/>
          </a:p>
          <a:p>
            <a:r>
              <a:rPr lang="sv-SE" dirty="0" err="1"/>
              <a:t>Konstruktor</a:t>
            </a:r>
            <a:r>
              <a:rPr lang="sv-SE" dirty="0"/>
              <a:t>, </a:t>
            </a:r>
            <a:r>
              <a:rPr lang="sv-SE" dirty="0" err="1"/>
              <a:t>defaultkonstruktor</a:t>
            </a:r>
            <a:endParaRPr lang="sv-SE" dirty="0"/>
          </a:p>
          <a:p>
            <a:r>
              <a:rPr lang="sv-SE" dirty="0"/>
              <a:t>Variabler och datatyper</a:t>
            </a:r>
          </a:p>
          <a:p>
            <a:r>
              <a:rPr lang="sv-SE" dirty="0"/>
              <a:t>Arv</a:t>
            </a:r>
          </a:p>
          <a:p>
            <a:r>
              <a:rPr lang="sv-SE" dirty="0"/>
              <a:t>Metod </a:t>
            </a:r>
            <a:r>
              <a:rPr lang="sv-SE" dirty="0" err="1"/>
              <a:t>overriding</a:t>
            </a:r>
            <a:r>
              <a:rPr lang="sv-SE" dirty="0"/>
              <a:t> / överskuggning</a:t>
            </a:r>
          </a:p>
          <a:p>
            <a:r>
              <a:rPr lang="sv-SE" dirty="0" err="1"/>
              <a:t>Polymorfism</a:t>
            </a:r>
            <a:r>
              <a:rPr lang="sv-SE" dirty="0"/>
              <a:t>?</a:t>
            </a:r>
          </a:p>
          <a:p>
            <a:pPr marL="0" indent="0">
              <a:buNone/>
            </a:pPr>
            <a:endParaRPr lang="sv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275685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2189B-2E29-8B4F-64B3-A3262272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Ett betalningssystem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DF71B-468C-4B39-30B7-3F174731F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SE" dirty="0"/>
              <a:t>Vi arbetar med ett e-handelssystem. Där kunden ska kunna:</a:t>
            </a:r>
          </a:p>
          <a:p>
            <a:pPr lvl="0"/>
            <a:r>
              <a:rPr lang="en-SE" dirty="0"/>
              <a:t>Välja produkter</a:t>
            </a:r>
          </a:p>
          <a:p>
            <a:pPr lvl="0"/>
            <a:r>
              <a:rPr lang="en-SE" dirty="0"/>
              <a:t>Gå till kassan</a:t>
            </a:r>
          </a:p>
          <a:p>
            <a:pPr lvl="0"/>
            <a:r>
              <a:rPr lang="en-SE" dirty="0"/>
              <a:t>Välja betalningsmetod</a:t>
            </a:r>
          </a:p>
          <a:p>
            <a:pPr lvl="0"/>
            <a:r>
              <a:rPr lang="en-SE" dirty="0"/>
              <a:t>Betala</a:t>
            </a:r>
          </a:p>
          <a:p>
            <a:pPr lvl="0"/>
            <a:r>
              <a:rPr lang="en-SE" dirty="0"/>
              <a:t>Få bekräftelse på köpet</a:t>
            </a:r>
          </a:p>
        </p:txBody>
      </p:sp>
    </p:spTree>
    <p:extLst>
      <p:ext uri="{BB962C8B-B14F-4D97-AF65-F5344CB8AC3E}">
        <p14:creationId xmlns:p14="http://schemas.microsoft.com/office/powerpoint/2010/main" val="42512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558C1-3513-BCD4-2AA4-9F53F16A8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Ett program kan byggas av flera personer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15B43-BFD7-ADBC-9829-10080ED47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979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E" dirty="0"/>
              <a:t>I ett större projekt behöver inte en person skriva hela programmet.</a:t>
            </a:r>
          </a:p>
          <a:p>
            <a:pPr marL="0" indent="0">
              <a:buNone/>
            </a:pPr>
            <a:r>
              <a:rPr lang="en-SE" dirty="0"/>
              <a:t>Därför kommunikation mellan inblandade programmerare är ytterst viktigt. </a:t>
            </a:r>
          </a:p>
          <a:p>
            <a:r>
              <a:rPr lang="en-SE" dirty="0"/>
              <a:t>Vi kan dela upp systemet i olika delar:</a:t>
            </a:r>
          </a:p>
          <a:p>
            <a:pPr marL="0" indent="0">
              <a:buNone/>
            </a:pPr>
            <a:r>
              <a:rPr lang="en-SE" b="1" dirty="0"/>
              <a:t>Exempel på ansvar:</a:t>
            </a:r>
            <a:endParaRPr lang="en-SE" dirty="0"/>
          </a:p>
          <a:p>
            <a:pPr lvl="0"/>
            <a:r>
              <a:rPr lang="en-SE" dirty="0"/>
              <a:t>Programmerare A → produktkatalog</a:t>
            </a:r>
          </a:p>
          <a:p>
            <a:pPr lvl="0"/>
            <a:r>
              <a:rPr lang="en-SE" dirty="0"/>
              <a:t>Programmerare B → checkout</a:t>
            </a:r>
          </a:p>
          <a:p>
            <a:pPr lvl="0"/>
            <a:r>
              <a:rPr lang="en-SE" dirty="0"/>
              <a:t>Programmerare C → betalningar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59315D3-EECA-C2D8-662E-8DEF073F6AB8}"/>
              </a:ext>
            </a:extLst>
          </p:cNvPr>
          <p:cNvGrpSpPr/>
          <p:nvPr/>
        </p:nvGrpSpPr>
        <p:grpSpPr>
          <a:xfrm>
            <a:off x="6727590" y="3336567"/>
            <a:ext cx="5264113" cy="2374481"/>
            <a:chOff x="4969779" y="3059668"/>
            <a:chExt cx="5380231" cy="262735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F58019F-F660-48B5-EFE6-245681EDF64D}"/>
                </a:ext>
              </a:extLst>
            </p:cNvPr>
            <p:cNvSpPr txBox="1"/>
            <p:nvPr/>
          </p:nvSpPr>
          <p:spPr>
            <a:xfrm>
              <a:off x="6735995" y="3059668"/>
              <a:ext cx="1079142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 dirty="0"/>
                <a:t>E-handel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8CD0D7E-BEF0-3804-AB5C-3492FFC9422B}"/>
                </a:ext>
              </a:extLst>
            </p:cNvPr>
            <p:cNvSpPr txBox="1"/>
            <p:nvPr/>
          </p:nvSpPr>
          <p:spPr>
            <a:xfrm>
              <a:off x="8446925" y="3997558"/>
              <a:ext cx="1903085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 dirty="0"/>
                <a:t>Produkthantering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7DCE983-9856-2CBB-ED04-FD8FE3A9EF5B}"/>
                </a:ext>
              </a:extLst>
            </p:cNvPr>
            <p:cNvSpPr txBox="1"/>
            <p:nvPr/>
          </p:nvSpPr>
          <p:spPr>
            <a:xfrm>
              <a:off x="4969779" y="3997558"/>
              <a:ext cx="1152175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 dirty="0" err="1"/>
                <a:t>Checkout</a:t>
              </a:r>
              <a:endParaRPr lang="sv-SE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9218D5-30BC-11ED-B955-49079C1F871F}"/>
                </a:ext>
              </a:extLst>
            </p:cNvPr>
            <p:cNvSpPr txBox="1"/>
            <p:nvPr/>
          </p:nvSpPr>
          <p:spPr>
            <a:xfrm>
              <a:off x="6735995" y="3997558"/>
              <a:ext cx="1123128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 dirty="0"/>
                <a:t>Betalning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5C4D685-1B54-6A77-F846-E994D8A560DA}"/>
                </a:ext>
              </a:extLst>
            </p:cNvPr>
            <p:cNvSpPr txBox="1"/>
            <p:nvPr/>
          </p:nvSpPr>
          <p:spPr>
            <a:xfrm>
              <a:off x="5887929" y="5317689"/>
              <a:ext cx="590739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 dirty="0"/>
                <a:t>Kort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8A842EA-2E84-280A-32FD-1232B7CEEF5F}"/>
                </a:ext>
              </a:extLst>
            </p:cNvPr>
            <p:cNvSpPr txBox="1"/>
            <p:nvPr/>
          </p:nvSpPr>
          <p:spPr>
            <a:xfrm>
              <a:off x="6909984" y="5317689"/>
              <a:ext cx="775149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 dirty="0"/>
                <a:t>Swish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790D58C-FD68-8CCD-B1FD-21607D6E4AFC}"/>
                </a:ext>
              </a:extLst>
            </p:cNvPr>
            <p:cNvSpPr txBox="1"/>
            <p:nvPr/>
          </p:nvSpPr>
          <p:spPr>
            <a:xfrm>
              <a:off x="7978097" y="5317689"/>
              <a:ext cx="845360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 dirty="0" err="1"/>
                <a:t>PayPal</a:t>
              </a:r>
              <a:endParaRPr lang="sv-SE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53A812-7BCD-F28F-35AE-701E5AEA5F64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7297559" y="3429000"/>
              <a:ext cx="0" cy="568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D998D28-9794-4CBE-72D9-A9FCB0766F11}"/>
                </a:ext>
              </a:extLst>
            </p:cNvPr>
            <p:cNvCxnSpPr>
              <a:cxnSpLocks/>
              <a:endCxn id="8" idx="3"/>
            </p:cNvCxnSpPr>
            <p:nvPr/>
          </p:nvCxnSpPr>
          <p:spPr>
            <a:xfrm flipH="1">
              <a:off x="7859123" y="4179979"/>
              <a:ext cx="587802" cy="2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F5CEB57-6527-2264-3B01-7D596FD9CCFB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 flipV="1">
              <a:off x="6096000" y="4179979"/>
              <a:ext cx="639995" cy="2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B0DDCCD-1FC8-A5EA-20B2-85EF4D2114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298" y="5026955"/>
              <a:ext cx="221747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14E2FD8-E097-4041-2FAC-06C06E6D90DA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>
              <a:off x="7297559" y="4366890"/>
              <a:ext cx="0" cy="9507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8D653CB-4D4A-D3F3-D778-E52724A30DEC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>
              <a:off x="8400777" y="5026955"/>
              <a:ext cx="0" cy="2907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F56DBF2-54A0-8464-5621-4206F9640A54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6183298" y="5026955"/>
              <a:ext cx="1" cy="2907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88625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6614-609E-0B19-E852-374ADEB1B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Vi behöver kunna arbeta mot en överenskommelse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86B88-1865-44D0-EFAA-F7539012B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353801" cy="4351338"/>
          </a:xfrm>
        </p:spPr>
        <p:txBody>
          <a:bodyPr>
            <a:normAutofit fontScale="92500" lnSpcReduction="20000"/>
          </a:bodyPr>
          <a:lstStyle/>
          <a:p>
            <a:r>
              <a:rPr lang="en-SE" dirty="0"/>
              <a:t>Tänk att programmeraren som ansvarar för </a:t>
            </a:r>
            <a:r>
              <a:rPr lang="en-SE" b="1" dirty="0"/>
              <a:t>checkout</a:t>
            </a:r>
            <a:r>
              <a:rPr lang="en-SE" dirty="0"/>
              <a:t> säger:</a:t>
            </a:r>
            <a:br>
              <a:rPr lang="en-SE" dirty="0"/>
            </a:br>
            <a:r>
              <a:rPr lang="en-SE" dirty="0"/>
              <a:t>"Jag behöver kunna be betalningsdelen att genomföra en betalning."</a:t>
            </a:r>
          </a:p>
          <a:p>
            <a:r>
              <a:rPr lang="en-SE" dirty="0"/>
              <a:t>Men personen som ansvarar för betalningsdelen kanske arbetar med:</a:t>
            </a:r>
          </a:p>
          <a:p>
            <a:pPr lvl="1"/>
            <a:r>
              <a:rPr lang="en-SE" dirty="0"/>
              <a:t>kortbetalning</a:t>
            </a:r>
          </a:p>
          <a:p>
            <a:pPr lvl="1"/>
            <a:r>
              <a:rPr lang="en-SE" dirty="0"/>
              <a:t>Swish</a:t>
            </a:r>
          </a:p>
          <a:p>
            <a:pPr lvl="1"/>
            <a:r>
              <a:rPr lang="en-SE" dirty="0"/>
              <a:t>PayPal</a:t>
            </a:r>
          </a:p>
          <a:p>
            <a:pPr lvl="1"/>
            <a:r>
              <a:rPr lang="en-GB" dirty="0"/>
              <a:t>F</a:t>
            </a:r>
            <a:r>
              <a:rPr lang="en-SE" dirty="0"/>
              <a:t>ramtida betalningsmetoder</a:t>
            </a:r>
          </a:p>
          <a:p>
            <a:r>
              <a:rPr lang="en-SE" dirty="0"/>
              <a:t>Checkout-programmeraren ska </a:t>
            </a:r>
            <a:r>
              <a:rPr lang="en-SE" b="1" dirty="0"/>
              <a:t>inte behöva vänta på attbetalningsdelen är färdig</a:t>
            </a:r>
            <a:r>
              <a:rPr lang="en-SE" dirty="0"/>
              <a:t>.</a:t>
            </a:r>
          </a:p>
          <a:p>
            <a:r>
              <a:rPr lang="en-SE" dirty="0"/>
              <a:t>De behöver bara komma överens om:</a:t>
            </a:r>
          </a:p>
          <a:p>
            <a:r>
              <a:rPr lang="en-SE" b="1" dirty="0"/>
              <a:t>"Om jag ger dig ett belopp ska du kunna genomföra en betalning."</a:t>
            </a:r>
            <a:endParaRPr lang="en-SE" dirty="0"/>
          </a:p>
          <a:p>
            <a:r>
              <a:rPr lang="en-SE" dirty="0"/>
              <a:t>Detta är ett </a:t>
            </a:r>
            <a:r>
              <a:rPr lang="en-SE" b="1" dirty="0"/>
              <a:t>kontrakt mellan två delar av programmet</a:t>
            </a:r>
            <a:r>
              <a:rPr lang="en-SE" dirty="0"/>
              <a:t>.</a:t>
            </a:r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755690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837DF-B79E-EC1E-50C9-AFABAB8C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Vem bestämmer kontraktet?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18484-6349-39E1-4D6A-5415733E6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E" b="1" dirty="0"/>
              <a:t>Systemarkitekten/den ansvarige utvecklaren säger:</a:t>
            </a:r>
            <a:endParaRPr lang="en-SE" dirty="0"/>
          </a:p>
          <a:p>
            <a:pPr marL="0" indent="0">
              <a:buNone/>
            </a:pPr>
            <a:r>
              <a:rPr lang="en-SE" dirty="0"/>
              <a:t>"Alla betalningslösningar måste erbjuda följande funktion: pay()."</a:t>
            </a:r>
          </a:p>
          <a:p>
            <a:r>
              <a:rPr lang="en-SE" dirty="0"/>
              <a:t>Betalningsutvecklarna bestämmer sedan </a:t>
            </a:r>
            <a:r>
              <a:rPr lang="en-SE" b="1" dirty="0"/>
              <a:t>hur</a:t>
            </a:r>
            <a:r>
              <a:rPr lang="en-SE" dirty="0"/>
              <a:t> den funktionen fungerar.</a:t>
            </a:r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19011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C362E-BB3B-A4C5-1360-468CCE8C5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Vad behöver checkout veta?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AF800-3FAD-1942-62D4-16FBB91DC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SE" dirty="0"/>
              <a:t>När kunden trycker på </a:t>
            </a:r>
            <a:r>
              <a:rPr lang="en-SE" b="1" dirty="0"/>
              <a:t>Betala</a:t>
            </a:r>
            <a:r>
              <a:rPr lang="en-SE" dirty="0"/>
              <a:t> behöver checkout egentligen veta ganska lite.</a:t>
            </a:r>
          </a:p>
          <a:p>
            <a:r>
              <a:rPr lang="en-SE" b="1" dirty="0"/>
              <a:t>Viktig information:</a:t>
            </a:r>
            <a:endParaRPr lang="en-SE" dirty="0"/>
          </a:p>
          <a:p>
            <a:pPr lvl="1"/>
            <a:r>
              <a:rPr lang="en-SE" dirty="0"/>
              <a:t>Order: 12345</a:t>
            </a:r>
          </a:p>
          <a:p>
            <a:pPr lvl="1"/>
            <a:r>
              <a:rPr lang="en-SE" dirty="0"/>
              <a:t>Belopp: 499 SEK</a:t>
            </a:r>
          </a:p>
          <a:p>
            <a:r>
              <a:rPr lang="en-SE" dirty="0"/>
              <a:t>Checkout behöver veta:</a:t>
            </a:r>
          </a:p>
          <a:p>
            <a:pPr lvl="1"/>
            <a:r>
              <a:rPr lang="en-SE" b="1" dirty="0"/>
              <a:t>Vad ska betalas?</a:t>
            </a:r>
            <a:endParaRPr lang="en-SE" dirty="0"/>
          </a:p>
          <a:p>
            <a:pPr lvl="1"/>
            <a:r>
              <a:rPr lang="en-SE" b="1" dirty="0"/>
              <a:t>Hur mycket ska betalas?</a:t>
            </a:r>
            <a:endParaRPr lang="en-SE" dirty="0"/>
          </a:p>
          <a:p>
            <a:r>
              <a:rPr lang="en-SE" dirty="0"/>
              <a:t>Checkout behöver inte veta:</a:t>
            </a:r>
          </a:p>
          <a:p>
            <a:pPr lvl="1"/>
            <a:r>
              <a:rPr lang="en-SE" dirty="0"/>
              <a:t>Hur en kortbetalning fungerar</a:t>
            </a:r>
          </a:p>
          <a:p>
            <a:pPr lvl="1"/>
            <a:r>
              <a:rPr lang="en-SE" dirty="0"/>
              <a:t>Hur Swish fungerar</a:t>
            </a:r>
          </a:p>
          <a:p>
            <a:pPr lvl="1"/>
            <a:r>
              <a:rPr lang="en-SE" dirty="0"/>
              <a:t>Hur PayPal fungerar</a:t>
            </a:r>
          </a:p>
          <a:p>
            <a:pPr lvl="1"/>
            <a:r>
              <a:rPr lang="en-SE" dirty="0"/>
              <a:t>Vilka API-anrop som krävs</a:t>
            </a:r>
          </a:p>
          <a:p>
            <a:pPr marL="0" indent="0">
              <a:buNone/>
            </a:pPr>
            <a:endParaRPr lang="en-SE" b="1" dirty="0"/>
          </a:p>
          <a:p>
            <a:pPr marL="0" indent="0">
              <a:buNone/>
            </a:pPr>
            <a:r>
              <a:rPr lang="en-SE" b="1" dirty="0"/>
              <a:t>Kärnan: </a:t>
            </a:r>
            <a:r>
              <a:rPr lang="en-SE" dirty="0"/>
              <a:t>Checkout bryr sig om </a:t>
            </a:r>
            <a:r>
              <a:rPr lang="en-SE" b="1" dirty="0"/>
              <a:t>vad</a:t>
            </a:r>
            <a:r>
              <a:rPr lang="en-SE" dirty="0"/>
              <a:t> som ska göras, inte </a:t>
            </a:r>
            <a:r>
              <a:rPr lang="en-SE" b="1" dirty="0"/>
              <a:t>hur</a:t>
            </a:r>
            <a:r>
              <a:rPr lang="en-SE" dirty="0"/>
              <a:t> det görs.</a:t>
            </a:r>
            <a:endParaRPr lang="sv-SE" dirty="0"/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41019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C0E53-675C-7ABC-08E1-A3E53A210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Men betalningsmetoderna fungerar olika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71105-9199-0C7E-EEDA-E18644580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974" y="1915974"/>
            <a:ext cx="11181522" cy="2144781"/>
          </a:xfrm>
        </p:spPr>
        <p:txBody>
          <a:bodyPr numCol="3">
            <a:noAutofit/>
          </a:bodyPr>
          <a:lstStyle/>
          <a:p>
            <a:pPr marL="0" indent="0">
              <a:buNone/>
            </a:pPr>
            <a:r>
              <a:rPr lang="en-SE" sz="2400" b="1" dirty="0"/>
              <a:t>Kort:</a:t>
            </a:r>
            <a:endParaRPr lang="en-SE" sz="2400" dirty="0"/>
          </a:p>
          <a:p>
            <a:pPr lvl="0"/>
            <a:r>
              <a:rPr lang="en-SE" sz="2400" dirty="0"/>
              <a:t>Kortnummer</a:t>
            </a:r>
          </a:p>
          <a:p>
            <a:pPr lvl="0"/>
            <a:r>
              <a:rPr lang="en-SE" sz="2400" dirty="0"/>
              <a:t>Verifiering</a:t>
            </a:r>
          </a:p>
          <a:p>
            <a:pPr lvl="0"/>
            <a:r>
              <a:rPr lang="en-SE" sz="2400" dirty="0"/>
              <a:t>3-D Secure</a:t>
            </a:r>
          </a:p>
          <a:p>
            <a:pPr lvl="0"/>
            <a:r>
              <a:rPr lang="en-SE" sz="2400" dirty="0"/>
              <a:t>Kortleverantörens API</a:t>
            </a:r>
            <a:br>
              <a:rPr lang="en-SE" sz="2400" dirty="0"/>
            </a:br>
            <a:br>
              <a:rPr lang="en-SE" sz="2400" dirty="0"/>
            </a:br>
            <a:endParaRPr lang="en-SE" sz="2400" dirty="0"/>
          </a:p>
          <a:p>
            <a:pPr marL="0" lvl="0" indent="0">
              <a:buNone/>
            </a:pPr>
            <a:endParaRPr lang="en-SE" sz="2400" dirty="0"/>
          </a:p>
          <a:p>
            <a:pPr marL="0" lvl="0" indent="0">
              <a:buNone/>
            </a:pPr>
            <a:endParaRPr lang="en-SE" sz="2400" dirty="0"/>
          </a:p>
          <a:p>
            <a:pPr marL="0" indent="0">
              <a:buNone/>
            </a:pPr>
            <a:endParaRPr lang="en-SE" sz="2400" b="1" dirty="0"/>
          </a:p>
          <a:p>
            <a:pPr marL="0" indent="0">
              <a:buNone/>
            </a:pPr>
            <a:r>
              <a:rPr lang="en-SE" sz="2400" b="1" dirty="0"/>
              <a:t>Swish</a:t>
            </a:r>
            <a:endParaRPr lang="en-SE" sz="2400" dirty="0"/>
          </a:p>
          <a:p>
            <a:pPr lvl="0"/>
            <a:r>
              <a:rPr lang="en-SE" sz="2400" dirty="0"/>
              <a:t>Telefonnummer</a:t>
            </a:r>
          </a:p>
          <a:p>
            <a:pPr lvl="0"/>
            <a:r>
              <a:rPr lang="en-SE" sz="2400" dirty="0"/>
              <a:t>Betalningsförfrågan</a:t>
            </a:r>
          </a:p>
          <a:p>
            <a:pPr lvl="0"/>
            <a:r>
              <a:rPr lang="en-SE" sz="2400" dirty="0"/>
              <a:t>Bekräftelse</a:t>
            </a:r>
          </a:p>
          <a:p>
            <a:pPr lvl="0"/>
            <a:r>
              <a:rPr lang="en-SE" sz="2400" dirty="0"/>
              <a:t>Swish API</a:t>
            </a:r>
          </a:p>
          <a:p>
            <a:pPr marL="0" lvl="0" indent="0">
              <a:buNone/>
            </a:pPr>
            <a:endParaRPr lang="en-SE" sz="2400" dirty="0"/>
          </a:p>
          <a:p>
            <a:pPr marL="0" lvl="0" indent="0">
              <a:buNone/>
            </a:pPr>
            <a:endParaRPr lang="en-SE" sz="2400" dirty="0"/>
          </a:p>
          <a:p>
            <a:pPr marL="0" lvl="0" indent="0">
              <a:buNone/>
            </a:pPr>
            <a:endParaRPr lang="en-SE" sz="2400" dirty="0"/>
          </a:p>
          <a:p>
            <a:pPr marL="0" indent="0">
              <a:buNone/>
            </a:pPr>
            <a:endParaRPr lang="en-SE" sz="2400" b="1" dirty="0"/>
          </a:p>
          <a:p>
            <a:pPr marL="0" indent="0">
              <a:buNone/>
            </a:pPr>
            <a:r>
              <a:rPr lang="en-SE" sz="2400" b="1" dirty="0"/>
              <a:t>PayPal</a:t>
            </a:r>
            <a:endParaRPr lang="en-SE" sz="2400" dirty="0"/>
          </a:p>
          <a:p>
            <a:pPr lvl="0"/>
            <a:r>
              <a:rPr lang="en-SE" sz="2400" dirty="0"/>
              <a:t>Konto</a:t>
            </a:r>
          </a:p>
          <a:p>
            <a:pPr lvl="0"/>
            <a:r>
              <a:rPr lang="en-SE" sz="2400" dirty="0"/>
              <a:t>Session/token</a:t>
            </a:r>
          </a:p>
          <a:p>
            <a:pPr lvl="0"/>
            <a:r>
              <a:rPr lang="en-SE" sz="2400" dirty="0"/>
              <a:t>Redirect</a:t>
            </a:r>
          </a:p>
          <a:p>
            <a:pPr lvl="0"/>
            <a:r>
              <a:rPr lang="en-SE" sz="2400" dirty="0"/>
              <a:t>PayPal API</a:t>
            </a:r>
          </a:p>
          <a:p>
            <a:pPr marL="0" indent="0">
              <a:buNone/>
            </a:pPr>
            <a:endParaRPr lang="sv-SE" sz="2400" dirty="0"/>
          </a:p>
          <a:p>
            <a:pPr marL="0" indent="0">
              <a:buNone/>
            </a:pPr>
            <a:endParaRPr lang="en-SE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1CA4DE-41EC-1FAD-27CE-120F5B50993F}"/>
              </a:ext>
            </a:extLst>
          </p:cNvPr>
          <p:cNvSpPr txBox="1"/>
          <p:nvPr/>
        </p:nvSpPr>
        <p:spPr>
          <a:xfrm>
            <a:off x="684143" y="5161032"/>
            <a:ext cx="10823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2400" b="1" dirty="0"/>
              <a:t>Men alla metoder har samma mål:  </a:t>
            </a:r>
            <a:r>
              <a:rPr lang="en-SE" sz="2400" dirty="0"/>
              <a:t>Genomför en betalning på ett visst belopp.</a:t>
            </a: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1511885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A1729-1DC5-70CF-6554-6425DD9D9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Scenario: kortbetalning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B234A-4A7E-A008-3CC2-42A5D7001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E" b="1" dirty="0"/>
              <a:t>Kunden köper en produkt för 499 SEK.</a:t>
            </a:r>
            <a:endParaRPr lang="en-SE" dirty="0"/>
          </a:p>
          <a:p>
            <a:r>
              <a:rPr lang="en-SE" dirty="0"/>
              <a:t>Checkout: "Betala 499 SEK"</a:t>
            </a:r>
          </a:p>
          <a:p>
            <a:r>
              <a:rPr lang="en-SE" dirty="0"/>
              <a:t>CreditCardPayment</a:t>
            </a:r>
          </a:p>
          <a:p>
            <a:pPr lvl="1"/>
            <a:r>
              <a:rPr lang="en-SE" dirty="0"/>
              <a:t>Kortspecifik logik</a:t>
            </a:r>
          </a:p>
          <a:p>
            <a:pPr lvl="1"/>
            <a:r>
              <a:rPr lang="en-SE" dirty="0"/>
              <a:t>Kortleverantörens API</a:t>
            </a:r>
          </a:p>
          <a:p>
            <a:pPr lvl="1"/>
            <a:r>
              <a:rPr lang="en-SE" dirty="0"/>
              <a:t>Betalning genomförd</a:t>
            </a:r>
          </a:p>
          <a:p>
            <a:r>
              <a:rPr lang="en-SE" b="1" dirty="0"/>
              <a:t>Viktig poäng:</a:t>
            </a:r>
            <a:endParaRPr lang="en-SE" dirty="0"/>
          </a:p>
          <a:p>
            <a:r>
              <a:rPr lang="en-SE" dirty="0"/>
              <a:t>Checkout behöver inte känna till stegen mellan CreditCardPayment och kortleverantören.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13661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8936D-5542-C6AE-1630-0C14E7157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Scenario: Swish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41F6F-5267-DA94-C489-6063BB4E5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E" b="1" dirty="0"/>
              <a:t>Samma order men swish som betalningsmetod: 499 SEK</a:t>
            </a:r>
            <a:endParaRPr lang="en-SE" dirty="0"/>
          </a:p>
          <a:p>
            <a:r>
              <a:rPr lang="en-SE" dirty="0"/>
              <a:t>Checkout: "Betala 499 SEK"</a:t>
            </a:r>
          </a:p>
          <a:p>
            <a:r>
              <a:rPr lang="en-SE" dirty="0"/>
              <a:t>SwishPayment</a:t>
            </a:r>
          </a:p>
          <a:p>
            <a:pPr lvl="1"/>
            <a:r>
              <a:rPr lang="en-SE" dirty="0"/>
              <a:t>Swish-specifik logik</a:t>
            </a:r>
          </a:p>
          <a:p>
            <a:pPr lvl="1"/>
            <a:r>
              <a:rPr lang="en-SE" dirty="0"/>
              <a:t>Swish API</a:t>
            </a:r>
          </a:p>
          <a:p>
            <a:pPr lvl="1"/>
            <a:r>
              <a:rPr lang="en-SE" dirty="0"/>
              <a:t>Betalning genomförd</a:t>
            </a:r>
          </a:p>
          <a:p>
            <a:pPr lvl="1"/>
            <a:endParaRPr lang="en-SE" dirty="0"/>
          </a:p>
          <a:p>
            <a:r>
              <a:rPr lang="en-SE" dirty="0"/>
              <a:t>Här behöver Checkout inte heller veta detaljer i SwishPayment </a:t>
            </a:r>
          </a:p>
          <a:p>
            <a:r>
              <a:rPr lang="en-SE" b="1" dirty="0"/>
              <a:t>Det som skiljer mellan olika metoder är implementationen.</a:t>
            </a:r>
            <a:endParaRPr lang="en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88794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B7C22-BD4A-AFB6-744A-43497C659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Problemet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7FBB5-0612-3669-F536-93F4F91B5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SE" dirty="0"/>
              <a:t>Vi vill kunna skriva:  </a:t>
            </a:r>
            <a:br>
              <a:rPr lang="en-SE" dirty="0"/>
            </a:br>
            <a:r>
              <a:rPr lang="en-SE" dirty="0">
                <a:latin typeface="Courier New" panose="02070309020205020404" pitchFamily="49" charset="0"/>
                <a:cs typeface="Courier New" panose="02070309020205020404" pitchFamily="49" charset="0"/>
              </a:rPr>
              <a:t>paymentMethod.pay(499);</a:t>
            </a:r>
          </a:p>
          <a:p>
            <a:r>
              <a:rPr lang="en-SE" dirty="0"/>
              <a:t>Men vi vill </a:t>
            </a:r>
            <a:r>
              <a:rPr lang="en-SE" b="1" dirty="0"/>
              <a:t>inte</a:t>
            </a:r>
            <a:r>
              <a:rPr lang="en-SE" dirty="0"/>
              <a:t> att checkout ska behöva göra:</a:t>
            </a:r>
            <a:br>
              <a:rPr lang="en-SE" dirty="0"/>
            </a:br>
            <a:r>
              <a:rPr lang="en-SE" dirty="0">
                <a:latin typeface="Courier New" panose="02070309020205020404" pitchFamily="49" charset="0"/>
                <a:cs typeface="Courier New" panose="02070309020205020404" pitchFamily="49" charset="0"/>
              </a:rPr>
              <a:t>if (paymentType == SWISH) {</a:t>
            </a:r>
          </a:p>
          <a:p>
            <a:pPr marL="0" indent="0">
              <a:buNone/>
            </a:pPr>
            <a:r>
              <a:rPr lang="en-SE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// Swish-logik</a:t>
            </a:r>
          </a:p>
          <a:p>
            <a:pPr marL="0" indent="0">
              <a:buNone/>
            </a:pPr>
            <a:r>
              <a:rPr lang="en-SE" dirty="0">
                <a:latin typeface="Courier New" panose="02070309020205020404" pitchFamily="49" charset="0"/>
                <a:cs typeface="Courier New" panose="02070309020205020404" pitchFamily="49" charset="0"/>
              </a:rPr>
              <a:t>     } else if (paymentType == CREDIT_CARD) {</a:t>
            </a:r>
          </a:p>
          <a:p>
            <a:pPr marL="0" indent="0">
              <a:buNone/>
            </a:pPr>
            <a:r>
              <a:rPr lang="en-SE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// kortlogik</a:t>
            </a:r>
          </a:p>
          <a:p>
            <a:pPr marL="0" indent="0">
              <a:buNone/>
            </a:pPr>
            <a:r>
              <a:rPr lang="en-SE" dirty="0">
                <a:latin typeface="Courier New" panose="02070309020205020404" pitchFamily="49" charset="0"/>
                <a:cs typeface="Courier New" panose="02070309020205020404" pitchFamily="49" charset="0"/>
              </a:rPr>
              <a:t>     } else if (paymentType == PAYPAL) {</a:t>
            </a:r>
          </a:p>
          <a:p>
            <a:pPr marL="0" indent="0">
              <a:buNone/>
            </a:pPr>
            <a:r>
              <a:rPr lang="en-SE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// PayPal-logik</a:t>
            </a:r>
          </a:p>
          <a:p>
            <a:pPr marL="0" indent="0">
              <a:buNone/>
            </a:pPr>
            <a:r>
              <a:rPr lang="en-SE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pPr marL="0" indent="0">
              <a:buNone/>
            </a:pPr>
            <a:r>
              <a:rPr lang="en-SE" b="1" dirty="0"/>
              <a:t>Varför?</a:t>
            </a:r>
          </a:p>
          <a:p>
            <a:pPr marL="0" indent="0">
              <a:buNone/>
            </a:pPr>
            <a:r>
              <a:rPr lang="en-SE" dirty="0"/>
              <a:t>För då måste checkout känna till alla betalningsmetoder. Och varje gång vi lägger till en ny betalningsmetod måste checkout ändras.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79487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95AF-7765-069C-60BB-ADCCEDE5D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Lösning: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C3800-AF9C-C89D-AE20-77905BC90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E" b="1" dirty="0"/>
              <a:t>Lösningen: Interface</a:t>
            </a:r>
          </a:p>
          <a:p>
            <a:r>
              <a:rPr lang="en-SE" dirty="0"/>
              <a:t>Vi definierar ett </a:t>
            </a:r>
            <a:r>
              <a:rPr lang="en-SE" b="1" dirty="0"/>
              <a:t>kontrakt</a:t>
            </a:r>
            <a:r>
              <a:rPr lang="en-SE" dirty="0"/>
              <a:t>:</a:t>
            </a:r>
          </a:p>
          <a:p>
            <a:pPr marL="0" indent="0">
              <a:buNone/>
            </a:pPr>
            <a:r>
              <a:rPr lang="en-SE" dirty="0"/>
              <a:t>      </a:t>
            </a:r>
            <a:r>
              <a:rPr lang="en-SE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PaymentMethod {</a:t>
            </a:r>
          </a:p>
          <a:p>
            <a:pPr marL="0" indent="0">
              <a:buNone/>
            </a:pPr>
            <a:r>
              <a:rPr lang="en-SE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void pay(double amount);</a:t>
            </a:r>
          </a:p>
          <a:p>
            <a:pPr marL="0" indent="0">
              <a:buNone/>
            </a:pPr>
            <a:r>
              <a:rPr lang="en-SE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SE" dirty="0"/>
              <a:t>Det betyder:</a:t>
            </a:r>
          </a:p>
          <a:p>
            <a:pPr lvl="1"/>
            <a:r>
              <a:rPr lang="en-SE" b="1" dirty="0"/>
              <a:t>Alla PaymentMethod måste kunna genomföra pay(). (Tvingande!!!)</a:t>
            </a:r>
            <a:endParaRPr lang="en-SE" dirty="0"/>
          </a:p>
          <a:p>
            <a:pPr lvl="1"/>
            <a:r>
              <a:rPr lang="en-SE" dirty="0"/>
              <a:t>Interfacet lägger sig inte </a:t>
            </a:r>
            <a:r>
              <a:rPr lang="en-GB" dirty="0"/>
              <a:t>i</a:t>
            </a:r>
            <a:r>
              <a:rPr lang="en-SE" dirty="0"/>
              <a:t> </a:t>
            </a:r>
            <a:r>
              <a:rPr lang="en-SE" b="1" i="1" dirty="0"/>
              <a:t>Hur</a:t>
            </a:r>
            <a:r>
              <a:rPr lang="en-SE" dirty="0"/>
              <a:t> betalningen ska genomföras. Det lämnar vi till implementationen av metoden </a:t>
            </a:r>
            <a:r>
              <a:rPr lang="en-SE" dirty="0">
                <a:latin typeface="Courier New" panose="02070309020205020404" pitchFamily="49" charset="0"/>
                <a:cs typeface="Courier New" panose="02070309020205020404" pitchFamily="49" charset="0"/>
              </a:rPr>
              <a:t>pay.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314042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DC4FD-DAD8-4BE0-E26F-0CA3022D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865"/>
            <a:ext cx="10515600" cy="1325563"/>
          </a:xfrm>
        </p:spPr>
        <p:txBody>
          <a:bodyPr/>
          <a:lstStyle/>
          <a:p>
            <a:r>
              <a:rPr lang="en-SE" dirty="0"/>
              <a:t>Olika implementationer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EC095-907D-BA28-039A-BEB4C4C68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190" y="1239079"/>
            <a:ext cx="10386392" cy="56189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S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class CreditCardPayment </a:t>
            </a:r>
            <a:r>
              <a:rPr lang="en-S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implements PaymentMethod </a:t>
            </a:r>
            <a:r>
              <a:rPr lang="en-S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S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S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void pay(double amount) </a:t>
            </a:r>
            <a:r>
              <a:rPr lang="en-S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S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kortspecifik logik</a:t>
            </a:r>
          </a:p>
          <a:p>
            <a:pPr marL="0" indent="0">
              <a:buNone/>
            </a:pPr>
            <a:r>
              <a:rPr lang="en-S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S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S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class SwishPayment </a:t>
            </a:r>
            <a:r>
              <a:rPr lang="en-S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implements PaymentMethod </a:t>
            </a:r>
            <a:r>
              <a:rPr lang="en-S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S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S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void pay(double amount)</a:t>
            </a:r>
            <a:r>
              <a:rPr lang="en-S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S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Swish-specifik logik</a:t>
            </a:r>
          </a:p>
          <a:p>
            <a:pPr marL="0" indent="0">
              <a:buNone/>
            </a:pPr>
            <a:r>
              <a:rPr lang="en-S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S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SE" sz="2400" dirty="0">
                <a:latin typeface="Aptos" panose="020B0004020202020204" pitchFamily="34" charset="0"/>
                <a:cs typeface="Courier New" panose="02070309020205020404" pitchFamily="49" charset="0"/>
              </a:rPr>
              <a:t>Båda </a:t>
            </a:r>
            <a:r>
              <a:rPr lang="en-SE" sz="2400" b="1" dirty="0">
                <a:latin typeface="Aptos" panose="020B0004020202020204" pitchFamily="34" charset="0"/>
                <a:cs typeface="Courier New" panose="02070309020205020404" pitchFamily="49" charset="0"/>
              </a:rPr>
              <a:t>måste</a:t>
            </a:r>
            <a:r>
              <a:rPr lang="en-SE" sz="2400" dirty="0">
                <a:latin typeface="Aptos" panose="020B0004020202020204" pitchFamily="34" charset="0"/>
                <a:cs typeface="Courier New" panose="02070309020205020404" pitchFamily="49" charset="0"/>
              </a:rPr>
              <a:t> implementera </a:t>
            </a:r>
            <a:r>
              <a:rPr lang="en-S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pay(double amount)</a:t>
            </a:r>
            <a:r>
              <a:rPr lang="en-SE" sz="2400" dirty="0">
                <a:latin typeface="Aptos" panose="020B0004020202020204" pitchFamily="34" charset="0"/>
                <a:cs typeface="Courier New" panose="02070309020205020404" pitchFamily="49" charset="0"/>
              </a:rPr>
              <a:t>men de </a:t>
            </a:r>
            <a:r>
              <a:rPr lang="en-SE" sz="2400" b="1" dirty="0">
                <a:latin typeface="Aptos" panose="020B0004020202020204" pitchFamily="34" charset="0"/>
                <a:cs typeface="Courier New" panose="02070309020205020404" pitchFamily="49" charset="0"/>
              </a:rPr>
              <a:t>får</a:t>
            </a:r>
            <a:r>
              <a:rPr lang="en-SE" sz="2400" dirty="0">
                <a:latin typeface="Aptos" panose="020B0004020202020204" pitchFamily="34" charset="0"/>
                <a:cs typeface="Courier New" panose="02070309020205020404" pitchFamily="49" charset="0"/>
              </a:rPr>
              <a:t> göra det på </a:t>
            </a:r>
            <a:r>
              <a:rPr lang="en-SE" sz="2400" b="1" dirty="0">
                <a:latin typeface="Aptos" panose="020B0004020202020204" pitchFamily="34" charset="0"/>
                <a:cs typeface="Courier New" panose="02070309020205020404" pitchFamily="49" charset="0"/>
              </a:rPr>
              <a:t>helt olika sätt</a:t>
            </a:r>
            <a:r>
              <a:rPr lang="en-SE" sz="2400" dirty="0">
                <a:latin typeface="Aptos" panose="020B0004020202020204" pitchFamily="34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endParaRPr lang="en-S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sv-S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S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S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S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sv-S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377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0CBD6-CD1B-1F48-F920-0435D1EB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Vad har vi uppnått?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7E6C3-BD05-AA93-5BAB-927147542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261"/>
            <a:ext cx="10515600" cy="4586702"/>
          </a:xfrm>
        </p:spPr>
        <p:txBody>
          <a:bodyPr>
            <a:normAutofit fontScale="92500"/>
          </a:bodyPr>
          <a:lstStyle/>
          <a:p>
            <a:r>
              <a:rPr lang="en-SE" dirty="0"/>
              <a:t>Nu kan checkout arbeta mot </a:t>
            </a:r>
            <a:r>
              <a:rPr lang="en-SE" b="1" dirty="0"/>
              <a:t>interfacet</a:t>
            </a:r>
            <a:r>
              <a:rPr lang="en-SE" dirty="0"/>
              <a:t>:</a:t>
            </a:r>
          </a:p>
          <a:p>
            <a:pPr marL="0" indent="0">
              <a:buNone/>
            </a:pPr>
            <a:r>
              <a:rPr lang="en-SE" dirty="0">
                <a:latin typeface="Courier New" panose="02070309020205020404" pitchFamily="49" charset="0"/>
                <a:cs typeface="Courier New" panose="02070309020205020404" pitchFamily="49" charset="0"/>
              </a:rPr>
              <a:t>void processPayment(PaymentMethod method, double b){</a:t>
            </a:r>
          </a:p>
          <a:p>
            <a:pPr marL="0" indent="0">
              <a:buNone/>
            </a:pPr>
            <a:r>
              <a:rPr lang="en-SE" dirty="0">
                <a:latin typeface="Courier New" panose="02070309020205020404" pitchFamily="49" charset="0"/>
                <a:cs typeface="Courier New" panose="02070309020205020404" pitchFamily="49" charset="0"/>
              </a:rPr>
              <a:t>    method.pay(b);</a:t>
            </a:r>
          </a:p>
          <a:p>
            <a:pPr marL="0" indent="0">
              <a:buNone/>
            </a:pPr>
            <a:r>
              <a:rPr lang="en-SE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SE" dirty="0"/>
              <a:t>Vi kan göra anroperna:</a:t>
            </a:r>
          </a:p>
          <a:p>
            <a:pPr lvl="1"/>
            <a:r>
              <a:rPr lang="en-SE" dirty="0">
                <a:latin typeface="Courier New" panose="02070309020205020404" pitchFamily="49" charset="0"/>
                <a:cs typeface="Courier New" panose="02070309020205020404" pitchFamily="49" charset="0"/>
              </a:rPr>
              <a:t>processPayment(new CreditCardPayment(), 499); </a:t>
            </a:r>
          </a:p>
          <a:p>
            <a:pPr lvl="1"/>
            <a:r>
              <a:rPr lang="en-SE" dirty="0">
                <a:latin typeface="Courier New" panose="02070309020205020404" pitchFamily="49" charset="0"/>
                <a:cs typeface="Courier New" panose="02070309020205020404" pitchFamily="49" charset="0"/>
              </a:rPr>
              <a:t>processPayment(new SwishPayment(), 499);</a:t>
            </a:r>
          </a:p>
          <a:p>
            <a:r>
              <a:rPr lang="en-SE" dirty="0"/>
              <a:t>Checkout behöver inte veta vilken konkret klass den fått.</a:t>
            </a:r>
          </a:p>
          <a:p>
            <a:r>
              <a:rPr lang="en-SE" b="1" dirty="0"/>
              <a:t>Checkout vet bara:</a:t>
            </a:r>
          </a:p>
          <a:p>
            <a:pPr marL="0" indent="0">
              <a:buNone/>
            </a:pPr>
            <a:r>
              <a:rPr lang="en-SE" b="1" dirty="0"/>
              <a:t>   "Det här objektet är en PaymentMethod och kan därför pay()."</a:t>
            </a:r>
            <a:endParaRPr lang="en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14014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A25E5-14EA-351F-A49D-9BB9C9704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Viktig abstraktionspoäng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E8366-D1D9-402D-A3E1-C9838FAEB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8819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SE" b="1" dirty="0"/>
              <a:t>Information kan vara viktig för implementationen utan att vara relevant för den som använder implementationen.</a:t>
            </a:r>
            <a:endParaRPr lang="en-SE" dirty="0"/>
          </a:p>
          <a:p>
            <a:pPr marL="0" indent="0">
              <a:buNone/>
            </a:pPr>
            <a:r>
              <a:rPr lang="en-SE" dirty="0"/>
              <a:t>Exempel:</a:t>
            </a:r>
          </a:p>
          <a:p>
            <a:r>
              <a:rPr lang="en-SE" b="1" dirty="0"/>
              <a:t>Checkout bryr sig endast  om: </a:t>
            </a:r>
            <a:r>
              <a:rPr lang="en-SE" dirty="0"/>
              <a:t>499 SEK</a:t>
            </a:r>
          </a:p>
          <a:p>
            <a:r>
              <a:rPr lang="en-SE" b="1" dirty="0"/>
              <a:t>CreditCardPayment kan behöva: </a:t>
            </a:r>
            <a:r>
              <a:rPr lang="en-SE" dirty="0"/>
              <a:t>kortinformation, 3-D Secure,  API credentials,…</a:t>
            </a:r>
          </a:p>
          <a:p>
            <a:r>
              <a:rPr lang="en-SE" b="1" dirty="0"/>
              <a:t>SwishPayment kan behöva: </a:t>
            </a:r>
            <a:r>
              <a:rPr lang="en-SE" dirty="0"/>
              <a:t>telefonnummer, Swish-session, API-information, ...</a:t>
            </a:r>
          </a:p>
          <a:p>
            <a:pPr marL="0" indent="0">
              <a:buNone/>
            </a:pPr>
            <a:endParaRPr lang="en-SE" dirty="0"/>
          </a:p>
          <a:p>
            <a:r>
              <a:rPr lang="en-SE" dirty="0"/>
              <a:t>Den informationen är </a:t>
            </a:r>
            <a:r>
              <a:rPr lang="en-SE" b="1" dirty="0"/>
              <a:t>inte oviktig</a:t>
            </a:r>
            <a:r>
              <a:rPr lang="en-SE" dirty="0"/>
              <a:t> men är bara </a:t>
            </a:r>
            <a:r>
              <a:rPr lang="en-SE" b="1" dirty="0"/>
              <a:t>inte relevant på checkout-nivån</a:t>
            </a:r>
            <a:r>
              <a:rPr lang="en-SE" dirty="0"/>
              <a:t>.</a:t>
            </a:r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41872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88618-FBFF-6619-A5C6-0D62FBF28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Den stora poängen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DF3F9-FFDB-DA14-DA63-4E30A639B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22875" cy="4351338"/>
          </a:xfrm>
        </p:spPr>
        <p:txBody>
          <a:bodyPr>
            <a:normAutofit fontScale="92500" lnSpcReduction="20000"/>
          </a:bodyPr>
          <a:lstStyle/>
          <a:p>
            <a:r>
              <a:rPr lang="en-SE" b="1" dirty="0"/>
              <a:t>Interface = kontrakt</a:t>
            </a:r>
          </a:p>
          <a:p>
            <a:pPr marL="0" indent="0">
              <a:buNone/>
            </a:pPr>
            <a:r>
              <a:rPr lang="en-SE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PaymentMethod {</a:t>
            </a:r>
          </a:p>
          <a:p>
            <a:pPr marL="0" indent="0">
              <a:buNone/>
            </a:pPr>
            <a:r>
              <a:rPr lang="en-SE" dirty="0">
                <a:latin typeface="Courier New" panose="02070309020205020404" pitchFamily="49" charset="0"/>
                <a:cs typeface="Courier New" panose="02070309020205020404" pitchFamily="49" charset="0"/>
              </a:rPr>
              <a:t>    void pay(double amount);</a:t>
            </a:r>
          </a:p>
          <a:p>
            <a:pPr marL="0" indent="0">
              <a:buNone/>
            </a:pPr>
            <a:r>
              <a:rPr lang="en-SE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SE" b="1" dirty="0"/>
              <a:t>Checkout säger: </a:t>
            </a:r>
            <a:r>
              <a:rPr lang="en-SE" dirty="0"/>
              <a:t>"Jag behöver något som kan betala."</a:t>
            </a:r>
          </a:p>
          <a:p>
            <a:r>
              <a:rPr lang="en-SE" b="1" dirty="0"/>
              <a:t>Interfacet säger: </a:t>
            </a:r>
            <a:r>
              <a:rPr lang="en-SE" dirty="0"/>
              <a:t>"Alla som är PaymentMethod måste kunna pay()."</a:t>
            </a:r>
          </a:p>
          <a:p>
            <a:r>
              <a:rPr lang="en-SE" b="1" dirty="0"/>
              <a:t>CreditCardPayment säger: </a:t>
            </a:r>
            <a:r>
              <a:rPr lang="en-SE" dirty="0"/>
              <a:t>”Jag skriver under kontraktet och bestämmer själv hur kortbetalning fungerar."</a:t>
            </a:r>
          </a:p>
          <a:p>
            <a:r>
              <a:rPr lang="en-SE" b="1" dirty="0"/>
              <a:t>SwishPayment säger: </a:t>
            </a:r>
            <a:r>
              <a:rPr lang="en-SE" dirty="0"/>
              <a:t>"Jag skriver under kontraktet och bestämmer själv hur Swish-betalning fungerar."</a:t>
            </a:r>
          </a:p>
          <a:p>
            <a:r>
              <a:rPr lang="en-SE" b="1" dirty="0"/>
              <a:t>Samma kontrakt — olika implementationer.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72016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F4377-7347-96FC-A645-30827914D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7925"/>
            <a:ext cx="10515600" cy="1325563"/>
          </a:xfrm>
        </p:spPr>
        <p:txBody>
          <a:bodyPr/>
          <a:lstStyle/>
          <a:p>
            <a:pPr algn="ctr"/>
            <a:r>
              <a:rPr lang="sv-SE" dirty="0"/>
              <a:t>UML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8B71A-CE6C-65C2-63E1-9D70263F8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190" y="1900931"/>
            <a:ext cx="11921490" cy="4769144"/>
          </a:xfrm>
        </p:spPr>
        <p:txBody>
          <a:bodyPr numCol="1" spcCol="914400">
            <a:noAutofit/>
          </a:bodyPr>
          <a:lstStyle/>
          <a:p>
            <a:r>
              <a:rPr lang="sv-SE" sz="2400" dirty="0"/>
              <a:t>Komposition: En enkel heldragen linje med spetsig pil. Klass A har en referens till B </a:t>
            </a:r>
            <a:br>
              <a:rPr lang="sv-SE" sz="2400" dirty="0"/>
            </a:br>
            <a:br>
              <a:rPr lang="sv-SE" sz="2400" dirty="0"/>
            </a:br>
            <a:endParaRPr lang="sv-SE" sz="2400" dirty="0"/>
          </a:p>
          <a:p>
            <a:r>
              <a:rPr lang="sv-SE" sz="2400" dirty="0"/>
              <a:t>Arv: Heldragen pil med triangelform spets används för att beskriva arv:</a:t>
            </a:r>
            <a:br>
              <a:rPr lang="sv-SE" sz="2400" dirty="0"/>
            </a:br>
            <a:r>
              <a:rPr lang="sv-SE" sz="2400" dirty="0"/>
              <a:t>subklass ärver från superklass</a:t>
            </a:r>
          </a:p>
          <a:p>
            <a:pPr marL="0" indent="0">
              <a:buNone/>
            </a:pPr>
            <a:br>
              <a:rPr lang="sv-SE" sz="2400" dirty="0"/>
            </a:br>
            <a:endParaRPr lang="sv-SE" sz="2400" dirty="0"/>
          </a:p>
          <a:p>
            <a:r>
              <a:rPr lang="sv-SE" sz="2400" dirty="0"/>
              <a:t>Implementera: Streckad pil med triangelform spets används för att beskriva relation mellan implementerande klass och interface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E68BF2-7472-4B39-4E92-77A46979830D}"/>
              </a:ext>
            </a:extLst>
          </p:cNvPr>
          <p:cNvSpPr txBox="1"/>
          <p:nvPr/>
        </p:nvSpPr>
        <p:spPr>
          <a:xfrm>
            <a:off x="6308983" y="3955377"/>
            <a:ext cx="1362962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sv-SE" dirty="0"/>
              <a:t>Superklass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23FCE3-6178-F900-36D8-27868F8637DA}"/>
              </a:ext>
            </a:extLst>
          </p:cNvPr>
          <p:cNvSpPr txBox="1"/>
          <p:nvPr/>
        </p:nvSpPr>
        <p:spPr>
          <a:xfrm>
            <a:off x="3385584" y="3972740"/>
            <a:ext cx="1169756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sv-SE" dirty="0"/>
              <a:t>Subklass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CDCD77-0E6E-4F30-5A10-FF3667BDA2F2}"/>
              </a:ext>
            </a:extLst>
          </p:cNvPr>
          <p:cNvSpPr txBox="1"/>
          <p:nvPr/>
        </p:nvSpPr>
        <p:spPr>
          <a:xfrm>
            <a:off x="6075784" y="6009839"/>
            <a:ext cx="1247190" cy="36931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sv-SE" i="1" dirty="0"/>
              <a:t>Interface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64EF0F-7219-1C15-D8A9-44280637B1AC}"/>
              </a:ext>
            </a:extLst>
          </p:cNvPr>
          <p:cNvSpPr txBox="1"/>
          <p:nvPr/>
        </p:nvSpPr>
        <p:spPr>
          <a:xfrm>
            <a:off x="1451070" y="5954263"/>
            <a:ext cx="3009891" cy="369317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sv-SE" dirty="0"/>
              <a:t>Implementerande klass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FBBA5B8-743D-D76D-CE6B-C07D5123A108}"/>
              </a:ext>
            </a:extLst>
          </p:cNvPr>
          <p:cNvGrpSpPr/>
          <p:nvPr/>
        </p:nvGrpSpPr>
        <p:grpSpPr>
          <a:xfrm rot="5400000">
            <a:off x="5236673" y="3601059"/>
            <a:ext cx="217672" cy="1075017"/>
            <a:chOff x="1978011" y="3133120"/>
            <a:chExt cx="217672" cy="107501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9AC18C4-DF53-62D8-D791-0DAF3809C9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9610" y="3228213"/>
              <a:ext cx="1" cy="979924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110D5D-66E3-56BF-CE26-6B79FD8EFE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9611" y="3133120"/>
              <a:ext cx="116072" cy="95093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5D24F14-4909-0402-F408-5797624137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1597" y="3228213"/>
              <a:ext cx="190500" cy="0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42BA86F-EE07-9EC3-03CD-158271B091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8011" y="3133120"/>
              <a:ext cx="101599" cy="95093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DCF90E0-3B76-6F35-0BB2-EB06BA3729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8011" y="3228213"/>
              <a:ext cx="217672" cy="0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BF122F7-1ED0-64D8-C5D7-A3730519A22D}"/>
              </a:ext>
            </a:extLst>
          </p:cNvPr>
          <p:cNvGrpSpPr/>
          <p:nvPr/>
        </p:nvGrpSpPr>
        <p:grpSpPr>
          <a:xfrm rot="5400000">
            <a:off x="5085850" y="5674762"/>
            <a:ext cx="217672" cy="1066524"/>
            <a:chOff x="8561191" y="3154982"/>
            <a:chExt cx="217672" cy="1066524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90B267F-0505-F09B-F489-F0E7857BE653}"/>
                </a:ext>
              </a:extLst>
            </p:cNvPr>
            <p:cNvCxnSpPr>
              <a:cxnSpLocks/>
            </p:cNvCxnSpPr>
            <p:nvPr/>
          </p:nvCxnSpPr>
          <p:spPr>
            <a:xfrm>
              <a:off x="8676376" y="3250075"/>
              <a:ext cx="0" cy="97143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0487A82-FCC5-F724-B5B6-9DDE0D41D9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62791" y="3154982"/>
              <a:ext cx="116072" cy="95093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4654DF1-1323-1D8F-8217-C8A72D1A2B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74777" y="3250075"/>
              <a:ext cx="190500" cy="0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E792B59-0981-6959-C89D-EF9846292F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61191" y="3154982"/>
              <a:ext cx="101599" cy="95093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7B63A37-3146-2AFF-2C9F-BA5F11C09E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61191" y="3250075"/>
              <a:ext cx="217672" cy="0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FEB8FA5-8934-0658-6F46-8EB8F7C5A681}"/>
              </a:ext>
            </a:extLst>
          </p:cNvPr>
          <p:cNvSpPr txBox="1"/>
          <p:nvPr/>
        </p:nvSpPr>
        <p:spPr>
          <a:xfrm>
            <a:off x="838199" y="1344893"/>
            <a:ext cx="1068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b="1" dirty="0" err="1"/>
              <a:t>U</a:t>
            </a:r>
            <a:r>
              <a:rPr lang="sv-SE" sz="2400" dirty="0" err="1"/>
              <a:t>nified</a:t>
            </a:r>
            <a:r>
              <a:rPr lang="sv-SE" sz="2400" dirty="0"/>
              <a:t> </a:t>
            </a:r>
            <a:r>
              <a:rPr lang="sv-SE" sz="2400" b="1" dirty="0" err="1"/>
              <a:t>M</a:t>
            </a:r>
            <a:r>
              <a:rPr lang="sv-SE" sz="2400" dirty="0" err="1"/>
              <a:t>odelling</a:t>
            </a:r>
            <a:r>
              <a:rPr lang="sv-SE" sz="2400" dirty="0"/>
              <a:t> </a:t>
            </a:r>
            <a:r>
              <a:rPr lang="sv-SE" sz="2400" b="1" dirty="0" err="1"/>
              <a:t>L</a:t>
            </a:r>
            <a:r>
              <a:rPr lang="sv-SE" sz="2400" dirty="0" err="1"/>
              <a:t>anguage</a:t>
            </a:r>
            <a:r>
              <a:rPr lang="sv-SE" sz="2400" dirty="0"/>
              <a:t>: Beskriva relation mellan olika klasser med UML.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6B1EFD-37D0-27C2-8A40-5C2CCB3F674C}"/>
              </a:ext>
            </a:extLst>
          </p:cNvPr>
          <p:cNvSpPr txBox="1"/>
          <p:nvPr/>
        </p:nvSpPr>
        <p:spPr>
          <a:xfrm>
            <a:off x="4636546" y="56692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sv-S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EF6843-061F-DB9D-B997-8B28E9656743}"/>
              </a:ext>
            </a:extLst>
          </p:cNvPr>
          <p:cNvSpPr txBox="1"/>
          <p:nvPr/>
        </p:nvSpPr>
        <p:spPr>
          <a:xfrm>
            <a:off x="4460961" y="5623358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implements</a:t>
            </a:r>
            <a:endParaRPr lang="sv-S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E9A665-9207-C797-A216-6AD959BB8D86}"/>
              </a:ext>
            </a:extLst>
          </p:cNvPr>
          <p:cNvSpPr txBox="1"/>
          <p:nvPr/>
        </p:nvSpPr>
        <p:spPr>
          <a:xfrm>
            <a:off x="4733344" y="3744326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endParaRPr lang="sv-S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3942B0-252C-72C3-ECBC-3816B365EA75}"/>
              </a:ext>
            </a:extLst>
          </p:cNvPr>
          <p:cNvSpPr txBox="1"/>
          <p:nvPr/>
        </p:nvSpPr>
        <p:spPr>
          <a:xfrm>
            <a:off x="6461383" y="2483372"/>
            <a:ext cx="1149670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sv-SE" dirty="0"/>
              <a:t>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272DE5-2556-F363-0B8A-05AF25E6D846}"/>
              </a:ext>
            </a:extLst>
          </p:cNvPr>
          <p:cNvSpPr txBox="1"/>
          <p:nvPr/>
        </p:nvSpPr>
        <p:spPr>
          <a:xfrm>
            <a:off x="3537984" y="2500735"/>
            <a:ext cx="1169756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sv-SE" dirty="0"/>
              <a:t>A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15C96D3-E569-5B2B-2D8A-5293A6854862}"/>
              </a:ext>
            </a:extLst>
          </p:cNvPr>
          <p:cNvCxnSpPr>
            <a:cxnSpLocks/>
          </p:cNvCxnSpPr>
          <p:nvPr/>
        </p:nvCxnSpPr>
        <p:spPr>
          <a:xfrm>
            <a:off x="4960401" y="2659325"/>
            <a:ext cx="1063810" cy="3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B2FD7BC-8C0F-45BD-D14C-3614416D36F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929835" y="2669816"/>
            <a:ext cx="116072" cy="95093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A6B7656-CE80-A54F-2F56-F5FE67BB8C6F}"/>
              </a:ext>
            </a:extLst>
          </p:cNvPr>
          <p:cNvCxnSpPr>
            <a:cxnSpLocks/>
          </p:cNvCxnSpPr>
          <p:nvPr/>
        </p:nvCxnSpPr>
        <p:spPr>
          <a:xfrm rot="5400000" flipH="1">
            <a:off x="5937072" y="2560980"/>
            <a:ext cx="101599" cy="95093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36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4" grpId="0"/>
      <p:bldP spid="6" grpId="0"/>
      <p:bldP spid="14" grpId="0"/>
      <p:bldP spid="24" grpId="0"/>
      <p:bldP spid="25" grpId="0" animBg="1"/>
      <p:bldP spid="2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CCC95-B82A-2581-248A-F0564AC3D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UML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C43454-0558-F390-08C0-24365BCE7070}"/>
              </a:ext>
            </a:extLst>
          </p:cNvPr>
          <p:cNvSpPr/>
          <p:nvPr/>
        </p:nvSpPr>
        <p:spPr>
          <a:xfrm>
            <a:off x="6321973" y="3058508"/>
            <a:ext cx="3862552" cy="11193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3200" dirty="0" err="1"/>
              <a:t>PaymentMethod</a:t>
            </a:r>
            <a:endParaRPr lang="sv-SE" sz="3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329631-3B21-B8A3-E24F-158F3DD19819}"/>
              </a:ext>
            </a:extLst>
          </p:cNvPr>
          <p:cNvSpPr/>
          <p:nvPr/>
        </p:nvSpPr>
        <p:spPr>
          <a:xfrm>
            <a:off x="4531273" y="5411402"/>
            <a:ext cx="1960178" cy="11193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3200" dirty="0"/>
              <a:t>Card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11B993-DF8B-7775-79D8-EF93844379E4}"/>
              </a:ext>
            </a:extLst>
          </p:cNvPr>
          <p:cNvSpPr/>
          <p:nvPr/>
        </p:nvSpPr>
        <p:spPr>
          <a:xfrm>
            <a:off x="7002518" y="5469132"/>
            <a:ext cx="1960178" cy="11193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3200" dirty="0"/>
              <a:t>Swish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0398A-F643-EDAB-0B38-6B5AC5152099}"/>
              </a:ext>
            </a:extLst>
          </p:cNvPr>
          <p:cNvSpPr/>
          <p:nvPr/>
        </p:nvSpPr>
        <p:spPr>
          <a:xfrm>
            <a:off x="9393622" y="5411402"/>
            <a:ext cx="1960178" cy="11193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3200" dirty="0" err="1"/>
              <a:t>PayPal</a:t>
            </a:r>
            <a:endParaRPr lang="sv-SE" sz="3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21C6F7-E5CA-FBF6-423B-37B0A4B89E13}"/>
              </a:ext>
            </a:extLst>
          </p:cNvPr>
          <p:cNvSpPr/>
          <p:nvPr/>
        </p:nvSpPr>
        <p:spPr>
          <a:xfrm>
            <a:off x="1008918" y="3103121"/>
            <a:ext cx="3721806" cy="11193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3200" dirty="0" err="1"/>
              <a:t>Chackout</a:t>
            </a:r>
            <a:endParaRPr lang="sv-SE" sz="32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35FC94B-FE74-A80B-C7AD-D97E2B40CCE1}"/>
              </a:ext>
            </a:extLst>
          </p:cNvPr>
          <p:cNvGrpSpPr/>
          <p:nvPr/>
        </p:nvGrpSpPr>
        <p:grpSpPr>
          <a:xfrm>
            <a:off x="5211323" y="4194554"/>
            <a:ext cx="1997996" cy="1207109"/>
            <a:chOff x="2049517" y="4821698"/>
            <a:chExt cx="1997996" cy="1207109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F0F6783-A026-33DA-F95F-783FA6BDE4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9517" y="5031055"/>
              <a:ext cx="1729402" cy="997752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riangle 12">
              <a:extLst>
                <a:ext uri="{FF2B5EF4-FFF2-40B4-BE49-F238E27FC236}">
                  <a16:creationId xmlns:a16="http://schemas.microsoft.com/office/drawing/2014/main" id="{C14ECBD8-6A4A-B904-9D10-C7DB44BEFE7C}"/>
                </a:ext>
              </a:extLst>
            </p:cNvPr>
            <p:cNvSpPr/>
            <p:nvPr/>
          </p:nvSpPr>
          <p:spPr>
            <a:xfrm rot="3314631">
              <a:off x="3767960" y="4825923"/>
              <a:ext cx="283778" cy="275328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298E6B-5125-25DA-C0F1-20AB6DDF589C}"/>
              </a:ext>
            </a:extLst>
          </p:cNvPr>
          <p:cNvGrpSpPr/>
          <p:nvPr/>
        </p:nvGrpSpPr>
        <p:grpSpPr>
          <a:xfrm rot="14562462">
            <a:off x="8546342" y="4253637"/>
            <a:ext cx="1854841" cy="1145053"/>
            <a:chOff x="2049517" y="4821698"/>
            <a:chExt cx="1997996" cy="1207109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3DACA27-F121-68AE-69D0-05CD09359C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9517" y="5031055"/>
              <a:ext cx="1729402" cy="997752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riangle 17">
              <a:extLst>
                <a:ext uri="{FF2B5EF4-FFF2-40B4-BE49-F238E27FC236}">
                  <a16:creationId xmlns:a16="http://schemas.microsoft.com/office/drawing/2014/main" id="{9CF6F763-F81A-642A-E9FD-9FC1669CB53A}"/>
                </a:ext>
              </a:extLst>
            </p:cNvPr>
            <p:cNvSpPr/>
            <p:nvPr/>
          </p:nvSpPr>
          <p:spPr>
            <a:xfrm rot="3314631">
              <a:off x="3767960" y="4825923"/>
              <a:ext cx="283778" cy="275328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B41128C-0D3E-3757-CA41-41EC221E0753}"/>
              </a:ext>
            </a:extLst>
          </p:cNvPr>
          <p:cNvCxnSpPr>
            <a:cxnSpLocks/>
          </p:cNvCxnSpPr>
          <p:nvPr/>
        </p:nvCxnSpPr>
        <p:spPr>
          <a:xfrm flipH="1" flipV="1">
            <a:off x="8026230" y="4564604"/>
            <a:ext cx="30113" cy="94036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riangle 20">
            <a:extLst>
              <a:ext uri="{FF2B5EF4-FFF2-40B4-BE49-F238E27FC236}">
                <a16:creationId xmlns:a16="http://schemas.microsoft.com/office/drawing/2014/main" id="{71CE5BAF-7E81-B10C-8EEE-A12E5AB41092}"/>
              </a:ext>
            </a:extLst>
          </p:cNvPr>
          <p:cNvSpPr/>
          <p:nvPr/>
        </p:nvSpPr>
        <p:spPr>
          <a:xfrm rot="21289644">
            <a:off x="7890308" y="4279770"/>
            <a:ext cx="283778" cy="275328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F176BB3-69B2-9EA1-9B8B-FED753AF5DC9}"/>
              </a:ext>
            </a:extLst>
          </p:cNvPr>
          <p:cNvGrpSpPr/>
          <p:nvPr/>
        </p:nvGrpSpPr>
        <p:grpSpPr>
          <a:xfrm>
            <a:off x="4730724" y="3444102"/>
            <a:ext cx="1559717" cy="378617"/>
            <a:chOff x="4699192" y="3459868"/>
            <a:chExt cx="1559717" cy="378617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311ACC8-CB50-70F9-35D3-A2EAF1E0DD4C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V="1">
              <a:off x="4699192" y="3651262"/>
              <a:ext cx="1559717" cy="27301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8E6CF99-C97D-1C21-8F28-D2727C688F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02202" y="3657047"/>
              <a:ext cx="245949" cy="181438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E7065D2-32AF-920C-EF4F-867C058725E7}"/>
                </a:ext>
              </a:extLst>
            </p:cNvPr>
            <p:cNvCxnSpPr>
              <a:cxnSpLocks/>
            </p:cNvCxnSpPr>
            <p:nvPr/>
          </p:nvCxnSpPr>
          <p:spPr>
            <a:xfrm>
              <a:off x="5986186" y="3459868"/>
              <a:ext cx="263027" cy="179241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2382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5549A-057E-7E16-04FC-2A9EB6691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Lyssnarinterface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B2E60-2055-7B61-72C7-DE46AC9E0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/>
              <a:t>Vi tittar på några exempel </a:t>
            </a:r>
            <a:r>
              <a:rPr lang="sv-SE" dirty="0" err="1"/>
              <a:t>AWTDemo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46079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956</Words>
  <Application>Microsoft Macintosh PowerPoint</Application>
  <PresentationFormat>Widescreen</PresentationFormat>
  <Paragraphs>197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Courier New</vt:lpstr>
      <vt:lpstr>Office Theme</vt:lpstr>
      <vt:lpstr>Föreläsning 2 DD1385</vt:lpstr>
      <vt:lpstr>Förkunskap för denna föreläsning</vt:lpstr>
      <vt:lpstr>Ett betalningssystem</vt:lpstr>
      <vt:lpstr>Ett program kan byggas av flera personer</vt:lpstr>
      <vt:lpstr>Vi behöver kunna arbeta mot en överenskommelse</vt:lpstr>
      <vt:lpstr>Vem bestämmer kontraktet?</vt:lpstr>
      <vt:lpstr>Vad behöver checkout veta?</vt:lpstr>
      <vt:lpstr>Men betalningsmetoderna fungerar olika</vt:lpstr>
      <vt:lpstr>Scenario: kortbetalning</vt:lpstr>
      <vt:lpstr>Scenario: Swish</vt:lpstr>
      <vt:lpstr>Problemet</vt:lpstr>
      <vt:lpstr>Lösning: Interface</vt:lpstr>
      <vt:lpstr>Olika implementationer</vt:lpstr>
      <vt:lpstr>Vad har vi uppnått?</vt:lpstr>
      <vt:lpstr>Viktig abstraktionspoäng</vt:lpstr>
      <vt:lpstr>Den stora poängen</vt:lpstr>
      <vt:lpstr>UML</vt:lpstr>
      <vt:lpstr>UML</vt:lpstr>
      <vt:lpstr>Lyssnarinterface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Vahid Mosavat</dc:creator>
  <cp:lastModifiedBy>Vahid Mosavat</cp:lastModifiedBy>
  <cp:revision>16</cp:revision>
  <cp:lastPrinted>2026-09-14T06:01:13Z</cp:lastPrinted>
  <dcterms:created xsi:type="dcterms:W3CDTF">2026-09-13T19:35:45Z</dcterms:created>
  <dcterms:modified xsi:type="dcterms:W3CDTF">2026-09-14T06:01:17Z</dcterms:modified>
</cp:coreProperties>
</file>